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59" r:id="rId4"/>
    <p:sldId id="285" r:id="rId5"/>
    <p:sldId id="286" r:id="rId6"/>
    <p:sldId id="284" r:id="rId7"/>
    <p:sldId id="260" r:id="rId8"/>
    <p:sldId id="275" r:id="rId9"/>
    <p:sldId id="277" r:id="rId10"/>
    <p:sldId id="278" r:id="rId11"/>
    <p:sldId id="265" r:id="rId12"/>
    <p:sldId id="283" r:id="rId13"/>
    <p:sldId id="268" r:id="rId14"/>
    <p:sldId id="270" r:id="rId15"/>
    <p:sldId id="271" r:id="rId16"/>
    <p:sldId id="273" r:id="rId17"/>
  </p:sldIdLst>
  <p:sldSz cx="24377650" cy="13716000"/>
  <p:notesSz cx="7315200" cy="96012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ato Light" panose="020F0502020204030203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Raleway Light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140">
          <p15:clr>
            <a:srgbClr val="A4A3A4"/>
          </p15:clr>
        </p15:guide>
        <p15:guide id="2" orient="horz" pos="499">
          <p15:clr>
            <a:srgbClr val="A4A3A4"/>
          </p15:clr>
        </p15:guide>
        <p15:guide id="3" pos="14271">
          <p15:clr>
            <a:srgbClr val="A4A3A4"/>
          </p15:clr>
        </p15:guide>
        <p15:guide id="4" pos="7677">
          <p15:clr>
            <a:srgbClr val="A4A3A4"/>
          </p15:clr>
        </p15:guide>
        <p15:guide id="5" pos="10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MNTYNVTbpDTAGGJlZzdy5xXkD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A86C57-FAF1-40AC-A6BF-63785705ECA8}">
  <a:tblStyle styleId="{FDA86C57-FAF1-40AC-A6BF-63785705ECA8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7E6"/>
          </a:solidFill>
        </a:fill>
      </a:tcStyle>
    </a:wholeTbl>
    <a:band1H>
      <a:tcTxStyle/>
      <a:tcStyle>
        <a:tcBdr/>
        <a:fill>
          <a:solidFill>
            <a:srgbClr val="EACB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B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60"/>
      </p:cViewPr>
      <p:guideLst>
        <p:guide orient="horz" pos="8140"/>
        <p:guide orient="horz" pos="499"/>
        <p:guide pos="14271"/>
        <p:guide pos="7677"/>
        <p:guide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font" Target="fonts/font11.fntdata"/><Relationship Id="rId30" Type="http://schemas.openxmlformats.org/officeDocument/2006/relationships/font" Target="fonts/font12.fntdata"/><Relationship Id="rId31" Type="http://schemas.openxmlformats.org/officeDocument/2006/relationships/font" Target="fonts/font13.fntdata"/><Relationship Id="rId32" Type="http://schemas.openxmlformats.org/officeDocument/2006/relationships/font" Target="fonts/font14.fntdata"/><Relationship Id="rId33" Type="http://schemas.openxmlformats.org/officeDocument/2006/relationships/font" Target="fonts/font15.fntdata"/><Relationship Id="rId34" Type="http://schemas.openxmlformats.org/officeDocument/2006/relationships/font" Target="fonts/font16.fntdata"/><Relationship Id="rId41" Type="http://customschemas.google.com/relationships/presentationmetadata" Target="meta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E9786190-2C6C-B886-6ED2-620D9B5D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3976D1EC-9AC5-0D43-DCAF-106431D69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456C838E-6D26-E662-C828-02FECC17F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182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C74B8E4-13F0-E747-4A2F-E00AECF4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88D7F219-080E-C2A0-A87F-88417B803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9B5C61F3-9BAE-2579-CF25-3AD9A3CC2E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1989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9862D119-1E20-6E43-B951-4FE23567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2FB9BB4B-8E1C-EC9C-03C3-DB396EFB7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E426C094-86DB-D79A-645B-1393552D6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97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4882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549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611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0A2D08C4-B311-9DF4-2F4C-2C3278CA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>
            <a:extLst>
              <a:ext uri="{FF2B5EF4-FFF2-40B4-BE49-F238E27FC236}">
                <a16:creationId xmlns:a16="http://schemas.microsoft.com/office/drawing/2014/main" id="{128B31DC-0B8F-DA80-737B-89176215F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>
            <a:extLst>
              <a:ext uri="{FF2B5EF4-FFF2-40B4-BE49-F238E27FC236}">
                <a16:creationId xmlns:a16="http://schemas.microsoft.com/office/drawing/2014/main" id="{60E06422-6B2F-1982-C667-3DBAFBB6A3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36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675964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8075097" y="12712709"/>
            <a:ext cx="822745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17216715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 Slide">
  <p:cSld name="1_Default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" name="Google Shape;24;p21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" name="Google Shape;25;p21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" name="Google Shape;26;p21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" name="Google Shape;27;p21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-set">
  <p:cSld name="Icons-se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two column with image">
  <p:cSld name="Text two column with imag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>
            <a:spLocks noGrp="1"/>
          </p:cNvSpPr>
          <p:nvPr>
            <p:ph type="pic" idx="2"/>
          </p:nvPr>
        </p:nvSpPr>
        <p:spPr>
          <a:xfrm>
            <a:off x="12431713" y="6451599"/>
            <a:ext cx="10223500" cy="5267325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3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2" name="Google Shape;32;p23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3" name="Google Shape;33;p23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4" name="Google Shape;34;p23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" name="Google Shape;35;p23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" name="Google Shape;36;p23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-with-picture">
  <p:cSld name="Text-with-pictur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>
            <a:spLocks noGrp="1"/>
          </p:cNvSpPr>
          <p:nvPr>
            <p:ph type="pic" idx="2"/>
          </p:nvPr>
        </p:nvSpPr>
        <p:spPr>
          <a:xfrm>
            <a:off x="1727869" y="3936081"/>
            <a:ext cx="10099006" cy="721903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4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0" name="Google Shape;40;p24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1" name="Google Shape;41;p24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2" name="Google Shape;42;p24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3" name="Google Shape;43;p24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4" name="Google Shape;44;p24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-half-picture">
  <p:cSld name="1_Text-half-pictur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>
            <a:spLocks noGrp="1"/>
          </p:cNvSpPr>
          <p:nvPr>
            <p:ph type="pic" idx="2"/>
          </p:nvPr>
        </p:nvSpPr>
        <p:spPr>
          <a:xfrm>
            <a:off x="12147379" y="-13368"/>
            <a:ext cx="12277060" cy="1375855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Web Data Traffic">
  <p:cSld name="2_Web Data Traffic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>
            <a:spLocks noGrp="1"/>
          </p:cNvSpPr>
          <p:nvPr>
            <p:ph type="pic" idx="2"/>
          </p:nvPr>
        </p:nvSpPr>
        <p:spPr>
          <a:xfrm>
            <a:off x="10047288" y="4925808"/>
            <a:ext cx="12590794" cy="705188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6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50" name="Google Shape;50;p26"/>
          <p:cNvSpPr/>
          <p:nvPr/>
        </p:nvSpPr>
        <p:spPr>
          <a:xfrm>
            <a:off x="22008874" y="131150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1" name="Google Shape;51;p26"/>
          <p:cNvSpPr/>
          <p:nvPr/>
        </p:nvSpPr>
        <p:spPr>
          <a:xfrm>
            <a:off x="22109816" y="131912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2" name="Google Shape;52;p26"/>
          <p:cNvSpPr/>
          <p:nvPr/>
        </p:nvSpPr>
        <p:spPr>
          <a:xfrm>
            <a:off x="22424919" y="131146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3" name="Google Shape;53;p26"/>
          <p:cNvSpPr/>
          <p:nvPr/>
        </p:nvSpPr>
        <p:spPr>
          <a:xfrm flipH="1">
            <a:off x="22517574" y="131908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4" name="Google Shape;54;p26"/>
          <p:cNvSpPr/>
          <p:nvPr/>
        </p:nvSpPr>
        <p:spPr>
          <a:xfrm>
            <a:off x="23229210" y="9637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5" name="Google Shape;55;p26"/>
          <p:cNvSpPr txBox="1"/>
          <p:nvPr/>
        </p:nvSpPr>
        <p:spPr>
          <a:xfrm>
            <a:off x="23162370" y="9720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pp Design 01">
  <p:cSld name="1_App Design 0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>
            <a:spLocks noGrp="1"/>
          </p:cNvSpPr>
          <p:nvPr>
            <p:ph type="pic" idx="2"/>
          </p:nvPr>
        </p:nvSpPr>
        <p:spPr>
          <a:xfrm>
            <a:off x="3740150" y="3922713"/>
            <a:ext cx="5360988" cy="70889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7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9" name="Google Shape;59;p27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0" name="Google Shape;60;p27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1" name="Google Shape;61;p27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2" name="Google Shape;62;p27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3" name="Google Shape;63;p27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t-mockup">
  <p:cSld name="tablet-mockup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>
            <a:spLocks noGrp="1"/>
          </p:cNvSpPr>
          <p:nvPr>
            <p:ph type="pic" idx="2"/>
          </p:nvPr>
        </p:nvSpPr>
        <p:spPr>
          <a:xfrm>
            <a:off x="4314768" y="4227044"/>
            <a:ext cx="4058313" cy="545569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8"/>
          <p:cNvSpPr>
            <a:spLocks noGrp="1"/>
          </p:cNvSpPr>
          <p:nvPr>
            <p:ph type="pic" idx="3"/>
          </p:nvPr>
        </p:nvSpPr>
        <p:spPr>
          <a:xfrm>
            <a:off x="10144094" y="4227044"/>
            <a:ext cx="4156106" cy="545569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8"/>
          <p:cNvSpPr>
            <a:spLocks noGrp="1"/>
          </p:cNvSpPr>
          <p:nvPr>
            <p:ph type="pic" idx="4"/>
          </p:nvPr>
        </p:nvSpPr>
        <p:spPr>
          <a:xfrm>
            <a:off x="15832183" y="4231071"/>
            <a:ext cx="4157617" cy="545569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9" name="Google Shape;69;p28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0" name="Google Shape;70;p28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1" name="Google Shape;71;p28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2" name="Google Shape;72;p28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3" name="Google Shape;73;p28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reak-portfolio">
  <p:cSld name="Break-portfoli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>
            <a:spLocks noGrp="1"/>
          </p:cNvSpPr>
          <p:nvPr>
            <p:ph type="pic" idx="2"/>
          </p:nvPr>
        </p:nvSpPr>
        <p:spPr>
          <a:xfrm>
            <a:off x="7486247" y="8009113"/>
            <a:ext cx="16973839" cy="5915759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9"/>
          <p:cNvSpPr>
            <a:spLocks noGrp="1"/>
          </p:cNvSpPr>
          <p:nvPr>
            <p:ph type="pic" idx="3"/>
          </p:nvPr>
        </p:nvSpPr>
        <p:spPr>
          <a:xfrm>
            <a:off x="10062517" y="-80212"/>
            <a:ext cx="14397569" cy="813388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Break-2">
  <p:cSld name="2_Break-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>
            <a:spLocks noGrp="1"/>
          </p:cNvSpPr>
          <p:nvPr>
            <p:ph type="pic" idx="2"/>
          </p:nvPr>
        </p:nvSpPr>
        <p:spPr>
          <a:xfrm>
            <a:off x="0" y="-26736"/>
            <a:ext cx="24404390" cy="138363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"/>
              <a:buNone/>
              <a:defRPr sz="6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marR="0" lvl="0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1675964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8075097" y="12712709"/>
            <a:ext cx="822745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17216715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57200" y="3415264"/>
            <a:ext cx="23355300" cy="291164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DC5A1"/>
          </a:solidFill>
          <a:ln>
            <a:noFill/>
          </a:ln>
        </p:spPr>
        <p:txBody>
          <a:bodyPr spcFirstLastPara="1" wrap="square" lIns="50775" tIns="50775" rIns="50775" bIns="50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4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96996" y="9885357"/>
            <a:ext cx="16143059" cy="9312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Presented By (Roll-Number Wise):</a:t>
            </a:r>
          </a:p>
          <a:p>
            <a:r>
              <a:t>1. Durvesh Narkhede (Roll No. 33)</a:t>
            </a:r>
          </a:p>
          <a:p>
            <a:r>
              <a:t>2. Atharv Sawant (Roll No. 46)</a:t>
            </a:r>
          </a:p>
          <a:p>
            <a:r>
              <a:t>3. Vipul Sawarkar (Roll No. 47)</a:t>
            </a:r>
          </a:p>
          <a:p>
            <a:r>
              <a:t>4. Om Shinde (Roll No. 49)</a:t>
            </a:r>
          </a:p>
          <a:p>
            <a:r>
              <a:t>Branch: Artificial Intelligence &amp; Data Science</a:t>
            </a:r>
          </a:p>
          <a:p>
            <a:r>
              <a:t>Semester: VIII (Final Year B.Tech)</a:t>
            </a:r>
          </a:p>
        </p:txBody>
      </p:sp>
      <p:grpSp>
        <p:nvGrpSpPr>
          <p:cNvPr id="86" name="Google Shape;86;p1"/>
          <p:cNvGrpSpPr/>
          <p:nvPr/>
        </p:nvGrpSpPr>
        <p:grpSpPr>
          <a:xfrm rot="10800000" flipH="1">
            <a:off x="896996" y="9183889"/>
            <a:ext cx="3813254" cy="45719"/>
            <a:chOff x="1775295" y="2028842"/>
            <a:chExt cx="3631535" cy="45719"/>
          </a:xfrm>
        </p:grpSpPr>
        <p:sp>
          <p:nvSpPr>
            <p:cNvPr id="87" name="Google Shape;87;p1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14203680" y="9620874"/>
            <a:ext cx="12473940" cy="208344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Project Guide:</a:t>
            </a:r>
          </a:p>
          <a:p>
            <a:r>
              <a:t>Dr. Pallavi Adke</a:t>
            </a:r>
          </a:p>
          <a:p>
            <a:r>
              <a:t>(Assistant Professor, Dept. of AI &amp; DS)</a:t>
            </a:r>
          </a:p>
          <a:p/>
          <a:p>
            <a:r>
              <a:t>Head of Department:</a:t>
            </a:r>
          </a:p>
          <a:p>
            <a:r>
              <a:t>Dr. Nilkanth Deshpande</a:t>
            </a:r>
          </a:p>
          <a:p>
            <a:r>
              <a:t>(Dept. of AI &amp; DS, DPU Pune)</a:t>
            </a:r>
          </a:p>
        </p:txBody>
      </p:sp>
      <p:pic>
        <p:nvPicPr>
          <p:cNvPr id="94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412" y="1051945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254031" y="605227"/>
            <a:ext cx="19485477" cy="4390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/>
              <a:t>DR. D. Y. PATIL SCHOOL OF SCIENCE &amp; TECHNOLOGY</a:t>
            </a:r>
          </a:p>
          <a:p>
            <a:r>
              <a:rPr sz="1600"/>
              <a:t>DR. D. Y. PATIL VIDYAPEETH (DPU), PIMPRI- PUNE</a:t>
            </a:r>
          </a:p>
          <a:p/>
          <a:p>
            <a:r>
              <a:rPr sz="1600"/>
              <a:t>Research Copilot: AI-Powered Semantic Search</a:t>
            </a:r>
          </a:p>
        </p:txBody>
      </p:sp>
      <p:grpSp>
        <p:nvGrpSpPr>
          <p:cNvPr id="15" name="Google Shape;86;p1"/>
          <p:cNvGrpSpPr/>
          <p:nvPr/>
        </p:nvGrpSpPr>
        <p:grpSpPr>
          <a:xfrm rot="10800000" flipH="1">
            <a:off x="16045556" y="9420054"/>
            <a:ext cx="3813254" cy="45719"/>
            <a:chOff x="1775295" y="2028842"/>
            <a:chExt cx="3631535" cy="45719"/>
          </a:xfrm>
        </p:grpSpPr>
        <p:sp>
          <p:nvSpPr>
            <p:cNvPr id="16" name="Google Shape;87;p1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7" name="Google Shape;88;p1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8" name="Google Shape;89;p1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9" name="Google Shape;90;p1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" name="Google Shape;91;p1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" name="Google Shape;92;p1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" name="Google Shape;101;p2"/>
          <p:cNvGrpSpPr/>
          <p:nvPr/>
        </p:nvGrpSpPr>
        <p:grpSpPr>
          <a:xfrm>
            <a:off x="1730735" y="1783761"/>
            <a:ext cx="4088173" cy="45719"/>
            <a:chOff x="1775295" y="2028842"/>
            <a:chExt cx="3631535" cy="45719"/>
          </a:xfrm>
        </p:grpSpPr>
        <p:sp>
          <p:nvSpPr>
            <p:cNvPr id="5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6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7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1" name="Google Shape;100;p2"/>
          <p:cNvSpPr txBox="1"/>
          <p:nvPr/>
        </p:nvSpPr>
        <p:spPr>
          <a:xfrm>
            <a:off x="905595" y="1806620"/>
            <a:ext cx="22292218" cy="1221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Domain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Findings from Work </a:t>
            </a:r>
            <a:r>
              <a:rPr lang="en-US" sz="45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(output)</a:t>
            </a:r>
            <a:endParaRPr lang="en-US" sz="45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 and Future Scopes</a:t>
            </a:r>
          </a:p>
          <a:p>
            <a:pPr marL="685800" marR="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4715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Domain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4"/>
          <p:cNvGrpSpPr/>
          <p:nvPr/>
        </p:nvGrpSpPr>
        <p:grpSpPr>
          <a:xfrm>
            <a:off x="1730736" y="1565158"/>
            <a:ext cx="6266108" cy="45719"/>
            <a:chOff x="1775295" y="2028842"/>
            <a:chExt cx="3631535" cy="45719"/>
          </a:xfrm>
        </p:grpSpPr>
        <p:sp>
          <p:nvSpPr>
            <p:cNvPr id="131" name="Google Shape;131;p4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2702747" y="-1094341"/>
            <a:ext cx="19796305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r>
              <a:rPr sz="2000"/>
              <a:t>- Primary Domain: Artificial Intelligence &amp; Machine Learning</a:t>
            </a:r>
          </a:p>
          <a:p>
            <a:r>
              <a:rPr sz="2000"/>
              <a:t>- Core Sub-Domains:</a:t>
            </a:r>
          </a:p>
          <a:p>
            <a:r>
              <a:rPr sz="2000"/>
              <a:t>  * Natural Language Processing (NLP)</a:t>
            </a:r>
          </a:p>
          <a:p>
            <a:r>
              <a:rPr sz="2000"/>
              <a:t>  * Information Retrieval (IR)</a:t>
            </a:r>
          </a:p>
          <a:p>
            <a:r>
              <a:rPr sz="2000"/>
              <a:t>  * Visual Analytics &amp; Dimensionality Reduction</a:t>
            </a:r>
          </a:p>
        </p:txBody>
      </p:sp>
      <p:sp>
        <p:nvSpPr>
          <p:cNvPr id="138" name="Google Shape;138;p4"/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41B3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DE5632DD-48B5-D6AB-91FA-3B770195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>
            <a:extLst>
              <a:ext uri="{FF2B5EF4-FFF2-40B4-BE49-F238E27FC236}">
                <a16:creationId xmlns:a16="http://schemas.microsoft.com/office/drawing/2014/main" id="{F36A5C7E-0C1B-F6BC-B3A5-BDC815F32F3F}"/>
              </a:ext>
            </a:extLst>
          </p:cNvPr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4">
            <a:extLst>
              <a:ext uri="{FF2B5EF4-FFF2-40B4-BE49-F238E27FC236}">
                <a16:creationId xmlns:a16="http://schemas.microsoft.com/office/drawing/2014/main" id="{1038E01F-798E-FBDD-83A7-FFA426DCA579}"/>
              </a:ext>
            </a:extLst>
          </p:cNvPr>
          <p:cNvGrpSpPr/>
          <p:nvPr/>
        </p:nvGrpSpPr>
        <p:grpSpPr>
          <a:xfrm>
            <a:off x="1730736" y="1565158"/>
            <a:ext cx="6266108" cy="45719"/>
            <a:chOff x="1775295" y="2028842"/>
            <a:chExt cx="3631535" cy="45719"/>
          </a:xfrm>
        </p:grpSpPr>
        <p:sp>
          <p:nvSpPr>
            <p:cNvPr id="131" name="Google Shape;131;p4">
              <a:extLst>
                <a:ext uri="{FF2B5EF4-FFF2-40B4-BE49-F238E27FC236}">
                  <a16:creationId xmlns:a16="http://schemas.microsoft.com/office/drawing/2014/main" id="{988DDA9B-330A-E8E7-A213-06CED2DC9FF7}"/>
                </a:ext>
              </a:extLst>
            </p:cNvPr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2" name="Google Shape;132;p4">
              <a:extLst>
                <a:ext uri="{FF2B5EF4-FFF2-40B4-BE49-F238E27FC236}">
                  <a16:creationId xmlns:a16="http://schemas.microsoft.com/office/drawing/2014/main" id="{C57E1BBF-D83A-D0B1-927E-8975F1AE3C12}"/>
                </a:ext>
              </a:extLst>
            </p:cNvPr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3" name="Google Shape;133;p4">
              <a:extLst>
                <a:ext uri="{FF2B5EF4-FFF2-40B4-BE49-F238E27FC236}">
                  <a16:creationId xmlns:a16="http://schemas.microsoft.com/office/drawing/2014/main" id="{0E137357-6FA3-CD0E-3563-BB9F66111EBD}"/>
                </a:ext>
              </a:extLst>
            </p:cNvPr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4" name="Google Shape;134;p4">
              <a:extLst>
                <a:ext uri="{FF2B5EF4-FFF2-40B4-BE49-F238E27FC236}">
                  <a16:creationId xmlns:a16="http://schemas.microsoft.com/office/drawing/2014/main" id="{55477820-53D9-E9ED-F854-6B772DA07D6E}"/>
                </a:ext>
              </a:extLst>
            </p:cNvPr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5" name="Google Shape;135;p4">
              <a:extLst>
                <a:ext uri="{FF2B5EF4-FFF2-40B4-BE49-F238E27FC236}">
                  <a16:creationId xmlns:a16="http://schemas.microsoft.com/office/drawing/2014/main" id="{F9E02799-6DDD-99B5-EAB8-08269B643582}"/>
                </a:ext>
              </a:extLst>
            </p:cNvPr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6" name="Google Shape;136;p4">
              <a:extLst>
                <a:ext uri="{FF2B5EF4-FFF2-40B4-BE49-F238E27FC236}">
                  <a16:creationId xmlns:a16="http://schemas.microsoft.com/office/drawing/2014/main" id="{C2F2D320-3A27-8E26-962F-AD6CAAC74ED2}"/>
                </a:ext>
              </a:extLst>
            </p:cNvPr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5DE56752-DC8E-0D31-C1E0-9B0170DC804B}"/>
              </a:ext>
            </a:extLst>
          </p:cNvPr>
          <p:cNvSpPr txBox="1"/>
          <p:nvPr/>
        </p:nvSpPr>
        <p:spPr>
          <a:xfrm>
            <a:off x="2702747" y="-1094341"/>
            <a:ext cx="19796305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r>
              <a:rPr sz="1800"/>
              <a:t>- The exponential growth of academic research produces thousands of new papers daily, making comprehensive literature reviews difficult.</a:t>
            </a:r>
          </a:p>
          <a:p>
            <a:r>
              <a:rPr sz="1800"/>
              <a:t>- Traditional search engines rely heavily on Lexical Search (exact keyword matching), which fails to understand context or synonyms.</a:t>
            </a:r>
          </a:p>
          <a:p>
            <a:r>
              <a:rPr sz="1800"/>
              <a:t>- Research Copilot uses Artificial Intelligence to 'read' and understand papers, visually mapping tens of thousands of documents into an interactive 2D space.</a:t>
            </a: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E72AC41A-A4BA-1C7C-D3E4-7805C0BDAD90}"/>
              </a:ext>
            </a:extLst>
          </p:cNvPr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41B3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>
            <a:extLst>
              <a:ext uri="{FF2B5EF4-FFF2-40B4-BE49-F238E27FC236}">
                <a16:creationId xmlns:a16="http://schemas.microsoft.com/office/drawing/2014/main" id="{E3922F2A-DD52-E6AC-9260-6086367C96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263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B20BD739-CC18-9657-BB85-D33095AF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>
            <a:extLst>
              <a:ext uri="{FF2B5EF4-FFF2-40B4-BE49-F238E27FC236}">
                <a16:creationId xmlns:a16="http://schemas.microsoft.com/office/drawing/2014/main" id="{1D816100-1439-FE97-8528-25F40B224EE0}"/>
              </a:ext>
            </a:extLst>
          </p:cNvPr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4">
            <a:extLst>
              <a:ext uri="{FF2B5EF4-FFF2-40B4-BE49-F238E27FC236}">
                <a16:creationId xmlns:a16="http://schemas.microsoft.com/office/drawing/2014/main" id="{E1B2371B-924A-067F-E018-11E9A639526C}"/>
              </a:ext>
            </a:extLst>
          </p:cNvPr>
          <p:cNvGrpSpPr/>
          <p:nvPr/>
        </p:nvGrpSpPr>
        <p:grpSpPr>
          <a:xfrm>
            <a:off x="1730736" y="1565158"/>
            <a:ext cx="6266108" cy="45719"/>
            <a:chOff x="1775295" y="2028842"/>
            <a:chExt cx="3631535" cy="45719"/>
          </a:xfrm>
        </p:grpSpPr>
        <p:sp>
          <p:nvSpPr>
            <p:cNvPr id="131" name="Google Shape;131;p4">
              <a:extLst>
                <a:ext uri="{FF2B5EF4-FFF2-40B4-BE49-F238E27FC236}">
                  <a16:creationId xmlns:a16="http://schemas.microsoft.com/office/drawing/2014/main" id="{068370FB-2682-4F03-AC9B-1038597BB754}"/>
                </a:ext>
              </a:extLst>
            </p:cNvPr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2" name="Google Shape;132;p4">
              <a:extLst>
                <a:ext uri="{FF2B5EF4-FFF2-40B4-BE49-F238E27FC236}">
                  <a16:creationId xmlns:a16="http://schemas.microsoft.com/office/drawing/2014/main" id="{57FD6F08-4C5F-EBFF-8053-1CD303DF7BAA}"/>
                </a:ext>
              </a:extLst>
            </p:cNvPr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3" name="Google Shape;133;p4">
              <a:extLst>
                <a:ext uri="{FF2B5EF4-FFF2-40B4-BE49-F238E27FC236}">
                  <a16:creationId xmlns:a16="http://schemas.microsoft.com/office/drawing/2014/main" id="{7EBB7E43-25D9-FC4F-3935-664FB9FD81F0}"/>
                </a:ext>
              </a:extLst>
            </p:cNvPr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4" name="Google Shape;134;p4">
              <a:extLst>
                <a:ext uri="{FF2B5EF4-FFF2-40B4-BE49-F238E27FC236}">
                  <a16:creationId xmlns:a16="http://schemas.microsoft.com/office/drawing/2014/main" id="{31AA4181-FD48-6442-2671-D5B2EB8E1663}"/>
                </a:ext>
              </a:extLst>
            </p:cNvPr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5" name="Google Shape;135;p4">
              <a:extLst>
                <a:ext uri="{FF2B5EF4-FFF2-40B4-BE49-F238E27FC236}">
                  <a16:creationId xmlns:a16="http://schemas.microsoft.com/office/drawing/2014/main" id="{E1D8E6AB-9FF0-7BCD-0CB6-B8DC7866FBC6}"/>
                </a:ext>
              </a:extLst>
            </p:cNvPr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6" name="Google Shape;136;p4">
              <a:extLst>
                <a:ext uri="{FF2B5EF4-FFF2-40B4-BE49-F238E27FC236}">
                  <a16:creationId xmlns:a16="http://schemas.microsoft.com/office/drawing/2014/main" id="{9AB8E5CE-ECEF-28AB-6E15-491FDA204801}"/>
                </a:ext>
              </a:extLst>
            </p:cNvPr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F02111FE-0006-6963-2862-4FC7E9FBD472}"/>
              </a:ext>
            </a:extLst>
          </p:cNvPr>
          <p:cNvSpPr txBox="1"/>
          <p:nvPr/>
        </p:nvSpPr>
        <p:spPr>
          <a:xfrm>
            <a:off x="2702747" y="-1094341"/>
            <a:ext cx="19796305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r>
              <a:rPr sz="1800"/>
              <a:t>- Researchers spend countless hours sifting through irrelevant papers because standard keyword searches return extremely noisy results.</a:t>
            </a:r>
          </a:p>
          <a:p>
            <a:r>
              <a:rPr sz="1800"/>
              <a:t>- There is a severe lack of open-source tools that combine highly accurate semantic retrieval (understanding meaning) with interactive visual mapping.</a:t>
            </a:r>
          </a:p>
          <a:p>
            <a:r>
              <a:rPr sz="1800"/>
              <a:t>- We aim to bridge the gap between advanced Deep Learning (Transformers and Vector Databases) and user-friendly data visualization.</a:t>
            </a: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ADD1E739-050E-02BB-BDF3-E0DAEB44871E}"/>
              </a:ext>
            </a:extLst>
          </p:cNvPr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41B3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>
            <a:extLst>
              <a:ext uri="{FF2B5EF4-FFF2-40B4-BE49-F238E27FC236}">
                <a16:creationId xmlns:a16="http://schemas.microsoft.com/office/drawing/2014/main" id="{AE40EA03-228E-DF81-3645-BD778A8C07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213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04BAC8B8-1755-13EF-21AD-E0D6B2DA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>
            <a:extLst>
              <a:ext uri="{FF2B5EF4-FFF2-40B4-BE49-F238E27FC236}">
                <a16:creationId xmlns:a16="http://schemas.microsoft.com/office/drawing/2014/main" id="{D6D7CAB8-551A-EF82-350D-AEBA22CAAABF}"/>
              </a:ext>
            </a:extLst>
          </p:cNvPr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4">
            <a:extLst>
              <a:ext uri="{FF2B5EF4-FFF2-40B4-BE49-F238E27FC236}">
                <a16:creationId xmlns:a16="http://schemas.microsoft.com/office/drawing/2014/main" id="{43BD5865-0FD1-B2EE-8737-21547F55F4DB}"/>
              </a:ext>
            </a:extLst>
          </p:cNvPr>
          <p:cNvGrpSpPr/>
          <p:nvPr/>
        </p:nvGrpSpPr>
        <p:grpSpPr>
          <a:xfrm>
            <a:off x="1730736" y="1565158"/>
            <a:ext cx="6266108" cy="45719"/>
            <a:chOff x="1775295" y="2028842"/>
            <a:chExt cx="3631535" cy="45719"/>
          </a:xfrm>
        </p:grpSpPr>
        <p:sp>
          <p:nvSpPr>
            <p:cNvPr id="131" name="Google Shape;131;p4">
              <a:extLst>
                <a:ext uri="{FF2B5EF4-FFF2-40B4-BE49-F238E27FC236}">
                  <a16:creationId xmlns:a16="http://schemas.microsoft.com/office/drawing/2014/main" id="{A0B7EBFD-886A-5DB7-E5BB-D738CF548639}"/>
                </a:ext>
              </a:extLst>
            </p:cNvPr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2" name="Google Shape;132;p4">
              <a:extLst>
                <a:ext uri="{FF2B5EF4-FFF2-40B4-BE49-F238E27FC236}">
                  <a16:creationId xmlns:a16="http://schemas.microsoft.com/office/drawing/2014/main" id="{59080229-9833-5EEE-2A0E-5FA05F20769B}"/>
                </a:ext>
              </a:extLst>
            </p:cNvPr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3" name="Google Shape;133;p4">
              <a:extLst>
                <a:ext uri="{FF2B5EF4-FFF2-40B4-BE49-F238E27FC236}">
                  <a16:creationId xmlns:a16="http://schemas.microsoft.com/office/drawing/2014/main" id="{BE11D1CF-8DB8-3D16-825C-971CC02F07D4}"/>
                </a:ext>
              </a:extLst>
            </p:cNvPr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4" name="Google Shape;134;p4">
              <a:extLst>
                <a:ext uri="{FF2B5EF4-FFF2-40B4-BE49-F238E27FC236}">
                  <a16:creationId xmlns:a16="http://schemas.microsoft.com/office/drawing/2014/main" id="{AA15A494-B2BE-B0ED-3880-2F879740C011}"/>
                </a:ext>
              </a:extLst>
            </p:cNvPr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5" name="Google Shape;135;p4">
              <a:extLst>
                <a:ext uri="{FF2B5EF4-FFF2-40B4-BE49-F238E27FC236}">
                  <a16:creationId xmlns:a16="http://schemas.microsoft.com/office/drawing/2014/main" id="{A54858AC-F05F-C52B-C02C-28C99BC4B85F}"/>
                </a:ext>
              </a:extLst>
            </p:cNvPr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6" name="Google Shape;136;p4">
              <a:extLst>
                <a:ext uri="{FF2B5EF4-FFF2-40B4-BE49-F238E27FC236}">
                  <a16:creationId xmlns:a16="http://schemas.microsoft.com/office/drawing/2014/main" id="{F9ABA283-1EF9-5EDC-B528-48DFFE6C36CB}"/>
                </a:ext>
              </a:extLst>
            </p:cNvPr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7386CFCE-EB79-821E-72B0-C756A20305A7}"/>
              </a:ext>
            </a:extLst>
          </p:cNvPr>
          <p:cNvSpPr txBox="1"/>
          <p:nvPr/>
        </p:nvSpPr>
        <p:spPr>
          <a:xfrm>
            <a:off x="2702747" y="-1094341"/>
            <a:ext cx="19796305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600"/>
              <a:buFont typeface="Arial"/>
              <a:buNone/>
            </a:pPr>
            <a:endParaRPr sz="6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B7A570BC-5DE1-3406-10ED-5AAC0702B882}"/>
              </a:ext>
            </a:extLst>
          </p:cNvPr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41B3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" name="Google Shape;139;p4">
            <a:extLst>
              <a:ext uri="{FF2B5EF4-FFF2-40B4-BE49-F238E27FC236}">
                <a16:creationId xmlns:a16="http://schemas.microsoft.com/office/drawing/2014/main" id="{C4AFFE1B-682F-1A8D-5527-BA4A42ECD146}"/>
              </a:ext>
            </a:extLst>
          </p:cNvPr>
          <p:cNvSpPr/>
          <p:nvPr/>
        </p:nvSpPr>
        <p:spPr>
          <a:xfrm>
            <a:off x="1162050" y="3014476"/>
            <a:ext cx="2211705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/>
              <a:t>Keyword-based academic search engines fail to capture the semantic context of research queries, resulting in inefficient and noisy literature reviews (Problem). This project proposes an AI-driven semantic search and visualization dashboard (Solution) utilizing SentenceTransformers for dense vector embeddings, FAISS for high-speed nearest-neighbor retrieval, and UMAP with HDBSCAN for interactive 2D document clustering (Method).</a:t>
            </a: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>
            <a:extLst>
              <a:ext uri="{FF2B5EF4-FFF2-40B4-BE49-F238E27FC236}">
                <a16:creationId xmlns:a16="http://schemas.microsoft.com/office/drawing/2014/main" id="{61A25BF8-7B36-F7F2-5A47-E42BE35795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501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1615186" y="595215"/>
            <a:ext cx="180028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Objectives</a:t>
            </a:r>
            <a:endParaRPr sz="28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5" name="Google Shape;145;p5"/>
          <p:cNvGrpSpPr/>
          <p:nvPr/>
        </p:nvGrpSpPr>
        <p:grpSpPr>
          <a:xfrm>
            <a:off x="1730735" y="1783761"/>
            <a:ext cx="6581991" cy="45719"/>
            <a:chOff x="1775295" y="2028842"/>
            <a:chExt cx="3631535" cy="45719"/>
          </a:xfrm>
        </p:grpSpPr>
        <p:sp>
          <p:nvSpPr>
            <p:cNvPr id="146" name="Google Shape;146;p5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52" name="Google Shape;152;p5"/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7;p6">
            <a:extLst>
              <a:ext uri="{FF2B5EF4-FFF2-40B4-BE49-F238E27FC236}">
                <a16:creationId xmlns:a16="http://schemas.microsoft.com/office/drawing/2014/main" id="{67411104-D289-7885-D1DE-7D7ADBCACD1E}"/>
              </a:ext>
            </a:extLst>
          </p:cNvPr>
          <p:cNvSpPr/>
          <p:nvPr/>
        </p:nvSpPr>
        <p:spPr>
          <a:xfrm>
            <a:off x="905595" y="2490787"/>
            <a:ext cx="17460912" cy="720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/>
              <a:t>Aim: </a:t>
            </a:r>
          </a:p>
          <a:p>
            <a:r>
              <a:rPr sz="1800"/>
              <a:t>To design and develop an AI-powered academic search engine that leverages semantic embeddings and visual clustering to drastically improve research efficiency.</a:t>
            </a:r>
          </a:p>
          <a:p/>
          <a:p>
            <a:r>
              <a:rPr sz="1800"/>
              <a:t>Objectives: </a:t>
            </a:r>
          </a:p>
          <a:p>
            <a:r>
              <a:rPr sz="1800"/>
              <a:t>1. To construct a robust pipeline for embedding large-scale academic datasets.</a:t>
            </a:r>
          </a:p>
          <a:p>
            <a:r>
              <a:rPr sz="1800"/>
              <a:t>2. To implement a FAISS vector database for real-time semantic retrieval.</a:t>
            </a:r>
          </a:p>
          <a:p>
            <a:r>
              <a:rPr sz="1800"/>
              <a:t>3. To apply UMAP and HDBSCAN to group related papers into interactive 2D visual topics.</a:t>
            </a:r>
          </a:p>
          <a:p>
            <a:r>
              <a:rPr sz="1800"/>
              <a:t>4. To evaluate Machine Learning models (TF-IDF vs. Embeddings) to prove the mathematical superiority of AI representations.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Literature Review (2022–2025 Benchmarks) [VERIFY BEFORE USE]:</a:t>
            </a:r>
          </a:p>
          <a:p/>
          <a:p>
            <a:r>
              <a:t>1. Thakur et al. (2021) 'BEIR: A Heterogeneous Benchmark for Zero-shot Evaluation of Information Retrieval' - Established SciFact benchmark for zero-shot dense retrieval.</a:t>
            </a:r>
          </a:p>
          <a:p>
            <a:r>
              <a:t>2. Reimers &amp; Gurevych (2019) 'Sentence-BERT: Sentence Embeddings using Siamese BERT-Networks' - Foundational contrastive architecture for dense semantic search.</a:t>
            </a:r>
          </a:p>
          <a:p>
            <a:r>
              <a:t>3. Beltagy et al. (2019) 'SciBERT: A Pretrained Language Model for Scientific Text' - Demonstrates scientific vocabulary specialization over standard BERT.</a:t>
            </a:r>
          </a:p>
          <a:p>
            <a:r>
              <a:t>4. Karpukhin et al. (2020) 'Dense Passage Retrieval for Open-Domain Question Answering' - Validates in-batch negative mining and dual-encoder retrieval architectures.</a:t>
            </a:r>
          </a:p>
        </p:txBody>
      </p:sp>
      <p:grpSp>
        <p:nvGrpSpPr>
          <p:cNvPr id="130" name="Google Shape;130;p4"/>
          <p:cNvGrpSpPr/>
          <p:nvPr/>
        </p:nvGrpSpPr>
        <p:grpSpPr>
          <a:xfrm>
            <a:off x="1730736" y="1565158"/>
            <a:ext cx="6266108" cy="45719"/>
            <a:chOff x="1775295" y="2028842"/>
            <a:chExt cx="3631535" cy="45719"/>
          </a:xfrm>
        </p:grpSpPr>
        <p:sp>
          <p:nvSpPr>
            <p:cNvPr id="131" name="Google Shape;131;p4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2702747" y="-1094341"/>
            <a:ext cx="19796305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r>
              <a:t>Literature Review (2022–2025 Benchmarks) [VERIFY BEFORE USE]:</a:t>
            </a:r>
          </a:p>
          <a:p/>
          <a:p>
            <a:r>
              <a:t>1. Thakur et al. (2021) 'BEIR: A Heterogeneous Benchmark for Zero-shot Evaluation of Information Retrieval' - Established SciFact benchmark for zero-shot dense retrieval.</a:t>
            </a:r>
          </a:p>
          <a:p>
            <a:r>
              <a:t>2. Reimers &amp; Gurevych (2019) 'Sentence-BERT: Sentence Embeddings using Siamese BERT-Networks' - Foundational contrastive architecture for dense semantic search.</a:t>
            </a:r>
          </a:p>
          <a:p>
            <a:r>
              <a:t>3. Beltagy et al. (2019) 'SciBERT: A Pretrained Language Model for Scientific Text' - Demonstrates scientific vocabulary specialization over standard BERT.</a:t>
            </a:r>
          </a:p>
          <a:p>
            <a:r>
              <a:t>4. Karpukhin et al. (2020) 'Dense Passage Retrieval for Open-Domain Question Answering' - Validates in-batch negative mining and dual-encoder retrieval architectures.</a:t>
            </a:r>
          </a:p>
        </p:txBody>
      </p:sp>
      <p:sp>
        <p:nvSpPr>
          <p:cNvPr id="138" name="Google Shape;138;p4"/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r>
              <a:t>Literature Review (2022–2025 Benchmarks) [VERIFY BEFORE USE]:</a:t>
            </a:r>
          </a:p>
          <a:p/>
          <a:p>
            <a:r>
              <a:t>1. Thakur et al. (2021) 'BEIR: A Heterogeneous Benchmark for Zero-shot Evaluation of Information Retrieval' - Established SciFact benchmark for zero-shot dense retrieval.</a:t>
            </a:r>
          </a:p>
          <a:p>
            <a:r>
              <a:t>2. Reimers &amp; Gurevych (2019) 'Sentence-BERT: Sentence Embeddings using Siamese BERT-Networks' - Foundational contrastive architecture for dense semantic search.</a:t>
            </a:r>
          </a:p>
          <a:p>
            <a:r>
              <a:t>3. Beltagy et al. (2019) 'SciBERT: A Pretrained Language Model for Scientific Text' - Demonstrates scientific vocabulary specialization over standard BERT.</a:t>
            </a:r>
          </a:p>
          <a:p>
            <a:r>
              <a:t>4. Karpukhin et al. (2020) 'Dense Passage Retrieval for Open-Domain Question Answering' - Validates in-batch negative mining and dual-encoder retrieval architectures.</a:t>
            </a: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" name="Google Shape;181;p7"/>
          <p:cNvGraphicFramePr/>
          <p:nvPr>
            <p:extLst>
              <p:ext uri="{D42A27DB-BD31-4B8C-83A1-F6EECF244321}">
                <p14:modId xmlns:p14="http://schemas.microsoft.com/office/powerpoint/2010/main" val="2307180712"/>
              </p:ext>
            </p:extLst>
          </p:nvPr>
        </p:nvGraphicFramePr>
        <p:xfrm>
          <a:off x="609602" y="2002363"/>
          <a:ext cx="22680955" cy="10809481"/>
        </p:xfrm>
        <a:graphic>
          <a:graphicData uri="http://schemas.openxmlformats.org/drawingml/2006/table">
            <a:tbl>
              <a:tblPr firstRow="1" firstCol="1" bandRow="1">
                <a:noFill/>
                <a:tableStyleId>{FDA86C57-FAF1-40AC-A6BF-63785705ECA8}</a:tableStyleId>
              </a:tblPr>
              <a:tblGrid>
                <a:gridCol w="975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8309">
                  <a:extLst>
                    <a:ext uri="{9D8B030D-6E8A-4147-A177-3AD203B41FA5}">
                      <a16:colId xmlns:a16="http://schemas.microsoft.com/office/drawing/2014/main" val="3019105156"/>
                    </a:ext>
                  </a:extLst>
                </a:gridCol>
                <a:gridCol w="3175228">
                  <a:extLst>
                    <a:ext uri="{9D8B030D-6E8A-4147-A177-3AD203B41FA5}">
                      <a16:colId xmlns:a16="http://schemas.microsoft.com/office/drawing/2014/main" val="2469047083"/>
                    </a:ext>
                  </a:extLst>
                </a:gridCol>
                <a:gridCol w="2041390">
                  <a:extLst>
                    <a:ext uri="{9D8B030D-6E8A-4147-A177-3AD203B41FA5}">
                      <a16:colId xmlns:a16="http://schemas.microsoft.com/office/drawing/2014/main" val="1681014501"/>
                    </a:ext>
                  </a:extLst>
                </a:gridCol>
                <a:gridCol w="4457571">
                  <a:extLst>
                    <a:ext uri="{9D8B030D-6E8A-4147-A177-3AD203B41FA5}">
                      <a16:colId xmlns:a16="http://schemas.microsoft.com/office/drawing/2014/main" val="3146595611"/>
                    </a:ext>
                  </a:extLst>
                </a:gridCol>
                <a:gridCol w="7068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7070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Ref. No.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Year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Name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(Preprocessing/ Feature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Extraction / Classification)</a:t>
                      </a: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(If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applicable)</a:t>
                      </a: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(Accuracy, Recall, Precision, …</a:t>
                      </a:r>
                      <a:r>
                        <a:rPr lang="en-US" sz="2800" u="none" strike="noStrike" cap="none" dirty="0" err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</a:t>
                      </a: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from research (Analytical finding, Merits and Challenges)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29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 1</a:t>
                      </a:r>
                    </a:p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 2</a:t>
                      </a:r>
                    </a:p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Gap/challenges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</a:p>
                    <a:p>
                      <a:pPr marL="457200" marR="1651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Gap/challenges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 …. </a:t>
                      </a:r>
                      <a:r>
                        <a:rPr lang="en-US" sz="2800" u="none" strike="noStrike" cap="none" baseline="0" dirty="0" err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</a:t>
                      </a:r>
                      <a:endParaRPr lang="en-US"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endParaRPr lang="en-US"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5140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6559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800" b="1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Guidelines</a:t>
                      </a:r>
                      <a:r>
                        <a:rPr lang="en-US" sz="2800" b="1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Survey: - Minimum 20 papers survey is expected in presentation  </a:t>
                      </a:r>
                    </a:p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- Give preference to peer reviewed Q1/Q2 journal papers</a:t>
                      </a:r>
                    </a:p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-</a:t>
                      </a:r>
                      <a:r>
                        <a:rPr lang="en-US" sz="2800" b="1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Manipulation of research data from review  is strictly prohibited </a:t>
                      </a:r>
                      <a:endParaRPr sz="2800" b="1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1651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0478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1651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11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(Continued)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4"/>
          <p:cNvGrpSpPr/>
          <p:nvPr/>
        </p:nvGrpSpPr>
        <p:grpSpPr>
          <a:xfrm>
            <a:off x="1730736" y="1565158"/>
            <a:ext cx="6266108" cy="45719"/>
            <a:chOff x="1775295" y="2028842"/>
            <a:chExt cx="3631535" cy="45719"/>
          </a:xfrm>
        </p:grpSpPr>
        <p:sp>
          <p:nvSpPr>
            <p:cNvPr id="131" name="Google Shape;131;p4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2702747" y="-1094341"/>
            <a:ext cx="19796305" cy="821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endParaRPr sz="36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600"/>
              <a:buFont typeface="Arial"/>
              <a:buNone/>
            </a:pPr>
            <a:endParaRPr sz="6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41B3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" name="Google Shape;181;p7"/>
          <p:cNvGraphicFramePr/>
          <p:nvPr>
            <p:extLst>
              <p:ext uri="{D42A27DB-BD31-4B8C-83A1-F6EECF244321}">
                <p14:modId xmlns:p14="http://schemas.microsoft.com/office/powerpoint/2010/main" val="1490952608"/>
              </p:ext>
            </p:extLst>
          </p:nvPr>
        </p:nvGraphicFramePr>
        <p:xfrm>
          <a:off x="609602" y="2002363"/>
          <a:ext cx="22680955" cy="10762787"/>
        </p:xfrm>
        <a:graphic>
          <a:graphicData uri="http://schemas.openxmlformats.org/drawingml/2006/table">
            <a:tbl>
              <a:tblPr firstRow="1" firstCol="1" bandRow="1">
                <a:noFill/>
                <a:tableStyleId>{FDA86C57-FAF1-40AC-A6BF-63785705ECA8}</a:tableStyleId>
              </a:tblPr>
              <a:tblGrid>
                <a:gridCol w="975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8309">
                  <a:extLst>
                    <a:ext uri="{9D8B030D-6E8A-4147-A177-3AD203B41FA5}">
                      <a16:colId xmlns:a16="http://schemas.microsoft.com/office/drawing/2014/main" val="3019105156"/>
                    </a:ext>
                  </a:extLst>
                </a:gridCol>
                <a:gridCol w="2608309">
                  <a:extLst>
                    <a:ext uri="{9D8B030D-6E8A-4147-A177-3AD203B41FA5}">
                      <a16:colId xmlns:a16="http://schemas.microsoft.com/office/drawing/2014/main" val="2469047083"/>
                    </a:ext>
                  </a:extLst>
                </a:gridCol>
                <a:gridCol w="2608309">
                  <a:extLst>
                    <a:ext uri="{9D8B030D-6E8A-4147-A177-3AD203B41FA5}">
                      <a16:colId xmlns:a16="http://schemas.microsoft.com/office/drawing/2014/main" val="1681014501"/>
                    </a:ext>
                  </a:extLst>
                </a:gridCol>
                <a:gridCol w="4457571">
                  <a:extLst>
                    <a:ext uri="{9D8B030D-6E8A-4147-A177-3AD203B41FA5}">
                      <a16:colId xmlns:a16="http://schemas.microsoft.com/office/drawing/2014/main" val="3146595611"/>
                    </a:ext>
                  </a:extLst>
                </a:gridCol>
                <a:gridCol w="7068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3317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r>
                        <a:rPr lang="en-US" sz="32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Year</a:t>
                      </a:r>
                      <a:endParaRPr lang="en-US"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Name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(Preprocessing/ Feature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Extraction / Classification)</a:t>
                      </a: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(If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applicable)</a:t>
                      </a: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(Accuracy, Recall, Precision, …</a:t>
                      </a:r>
                      <a:r>
                        <a:rPr lang="en-US" sz="2800" u="none" strike="noStrike" cap="none" dirty="0" err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</a:t>
                      </a: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from research (Analytical finding, Merits and Challenges)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317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 1</a:t>
                      </a:r>
                    </a:p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 2</a:t>
                      </a:r>
                    </a:p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Gap/challenges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</a:p>
                    <a:p>
                      <a:pPr marL="457200" marR="1651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Gap/challenges</a:t>
                      </a:r>
                      <a:r>
                        <a:rPr lang="en-US" sz="2800" u="none" strike="noStrike" cap="none" baseline="0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 …. </a:t>
                      </a:r>
                      <a:r>
                        <a:rPr lang="en-US" sz="2800" u="none" strike="noStrike" cap="none" baseline="0" dirty="0" err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</a:t>
                      </a:r>
                      <a:endParaRPr lang="en-US"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16510" lvl="0" indent="-4572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endParaRPr lang="en-US"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796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9747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1860">
                <a:tc>
                  <a:txBody>
                    <a:bodyPr/>
                    <a:lstStyle/>
                    <a:p>
                      <a:pPr marL="0" marR="1651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 dirty="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54400" marR="544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211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1615184" y="595215"/>
            <a:ext cx="21004184" cy="790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0" name="Google Shape;200;p9"/>
          <p:cNvGrpSpPr/>
          <p:nvPr/>
        </p:nvGrpSpPr>
        <p:grpSpPr>
          <a:xfrm>
            <a:off x="1730736" y="1783761"/>
            <a:ext cx="8078282" cy="45719"/>
            <a:chOff x="1775295" y="2028842"/>
            <a:chExt cx="3631535" cy="45719"/>
          </a:xfrm>
        </p:grpSpPr>
        <p:sp>
          <p:nvSpPr>
            <p:cNvPr id="201" name="Google Shape;201;p9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207" name="Google Shape;207;p9"/>
          <p:cNvSpPr/>
          <p:nvPr/>
        </p:nvSpPr>
        <p:spPr>
          <a:xfrm>
            <a:off x="1143000" y="2781301"/>
            <a:ext cx="21476368" cy="6878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/>
              <a:t>1. Semantic Blindness: Traditional keyword engines (TF-IDF/BM25) cannot retrieve documents if exact words are missing, entirely ignoring context.</a:t>
            </a:r>
          </a:p>
          <a:p>
            <a:r>
              <a:rPr sz="1800"/>
              <a:t>2. Lack of Visual Exploration: Existing platforms present results as flat lists.</a:t>
            </a:r>
          </a:p>
          <a:p>
            <a:r>
              <a:rPr sz="1800"/>
              <a:t>3. High Computational Overhead: Running full Transformer models in real-time is too slow for web search without vector indexes.</a:t>
            </a:r>
          </a:p>
          <a:p>
            <a:r>
              <a:rPr sz="1800"/>
              <a:t>4. Poor Context-Awareness: Basic ML baselines struggle with academic abstracts.</a:t>
            </a:r>
          </a:p>
          <a:p>
            <a:r>
              <a:rPr sz="1800"/>
              <a:t>5. Isolated Architecture: Most tools focus solely on the ML backend or UI frontend.</a:t>
            </a:r>
          </a:p>
        </p:txBody>
      </p:sp>
      <p:pic>
        <p:nvPicPr>
          <p:cNvPr id="11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2820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6000" b="1" dirty="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13" name="Google Shape;213;p10"/>
          <p:cNvGrpSpPr/>
          <p:nvPr/>
        </p:nvGrpSpPr>
        <p:grpSpPr>
          <a:xfrm>
            <a:off x="1730735" y="1783761"/>
            <a:ext cx="3556159" cy="45719"/>
            <a:chOff x="1775295" y="2028842"/>
            <a:chExt cx="3631535" cy="45719"/>
          </a:xfrm>
        </p:grpSpPr>
        <p:sp>
          <p:nvSpPr>
            <p:cNvPr id="214" name="Google Shape;214;p10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220" name="Google Shape;220;p10"/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41B3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42211" y="2430380"/>
            <a:ext cx="21175578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accent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200151" y="2430380"/>
            <a:ext cx="22383750" cy="932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Process Schematic:</a:t>
            </a:r>
          </a:p>
          <a:p>
            <a:r>
              <a:t>1. Data Ingestion: Full 16,417 arXiv papers (2020–2026) with strict date boundaries.</a:t>
            </a:r>
          </a:p>
          <a:p>
            <a:r>
              <a:t>2. AI Embedding: Sentence-Transformers (all-MiniLM-L6-v2) generates 384-D dense vectors.</a:t>
            </a:r>
          </a:p>
          <a:p>
            <a:r>
              <a:t>3. Vector Indexing: FAISS HNSW index built for high-throughput sub-millisecond retrieval.</a:t>
            </a:r>
          </a:p>
          <a:p>
            <a:r>
              <a:t>4. Hybrid Retrieval: BM25 keyword matching + Dense Semantic Search fused via Reciprocal Rank Fusion (RRF).</a:t>
            </a:r>
          </a:p>
          <a:p>
            <a:r>
              <a:t>5. Cross-Encoder Re-Ranking: ms-marco-MiniLM-L-6-v2 re-scores top candidates.</a:t>
            </a:r>
          </a:p>
          <a:p>
            <a:r>
              <a:t>6. Verification &amp; Citation: Citation verification ensures each generated sentence is grounded in paper text.</a:t>
            </a: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F8D91731-05CF-AC27-F0FD-09E13633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EA4B8F82-B3F1-2639-A95F-50391A048B5A}"/>
              </a:ext>
            </a:extLst>
          </p:cNvPr>
          <p:cNvSpPr txBox="1"/>
          <p:nvPr/>
        </p:nvSpPr>
        <p:spPr>
          <a:xfrm>
            <a:off x="1615186" y="595215"/>
            <a:ext cx="1478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&amp; Testing </a:t>
            </a:r>
            <a:endParaRPr sz="6000" b="1" dirty="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13" name="Google Shape;213;p10">
            <a:extLst>
              <a:ext uri="{FF2B5EF4-FFF2-40B4-BE49-F238E27FC236}">
                <a16:creationId xmlns:a16="http://schemas.microsoft.com/office/drawing/2014/main" id="{E96ACEB8-FC86-CA1B-7833-4AF6ECB411B8}"/>
              </a:ext>
            </a:extLst>
          </p:cNvPr>
          <p:cNvGrpSpPr/>
          <p:nvPr/>
        </p:nvGrpSpPr>
        <p:grpSpPr>
          <a:xfrm>
            <a:off x="1730735" y="1783761"/>
            <a:ext cx="3556159" cy="45719"/>
            <a:chOff x="1775295" y="2028842"/>
            <a:chExt cx="3631535" cy="45719"/>
          </a:xfrm>
        </p:grpSpPr>
        <p:sp>
          <p:nvSpPr>
            <p:cNvPr id="214" name="Google Shape;214;p10">
              <a:extLst>
                <a:ext uri="{FF2B5EF4-FFF2-40B4-BE49-F238E27FC236}">
                  <a16:creationId xmlns:a16="http://schemas.microsoft.com/office/drawing/2014/main" id="{92A8CC11-008E-E2DB-4A32-46245BEB1649}"/>
                </a:ext>
              </a:extLst>
            </p:cNvPr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5" name="Google Shape;215;p10">
              <a:extLst>
                <a:ext uri="{FF2B5EF4-FFF2-40B4-BE49-F238E27FC236}">
                  <a16:creationId xmlns:a16="http://schemas.microsoft.com/office/drawing/2014/main" id="{433C16C2-A642-80F6-0444-2EC338596AE9}"/>
                </a:ext>
              </a:extLst>
            </p:cNvPr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6" name="Google Shape;216;p10">
              <a:extLst>
                <a:ext uri="{FF2B5EF4-FFF2-40B4-BE49-F238E27FC236}">
                  <a16:creationId xmlns:a16="http://schemas.microsoft.com/office/drawing/2014/main" id="{B7206557-C844-4630-3CA9-A38978211A65}"/>
                </a:ext>
              </a:extLst>
            </p:cNvPr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7" name="Google Shape;217;p10">
              <a:extLst>
                <a:ext uri="{FF2B5EF4-FFF2-40B4-BE49-F238E27FC236}">
                  <a16:creationId xmlns:a16="http://schemas.microsoft.com/office/drawing/2014/main" id="{FFDB25E8-1388-BD0D-B76D-989D5596FE52}"/>
                </a:ext>
              </a:extLst>
            </p:cNvPr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8" name="Google Shape;218;p10">
              <a:extLst>
                <a:ext uri="{FF2B5EF4-FFF2-40B4-BE49-F238E27FC236}">
                  <a16:creationId xmlns:a16="http://schemas.microsoft.com/office/drawing/2014/main" id="{7EEB5A32-CE44-A0B8-DA5E-F4F6D553E3B6}"/>
                </a:ext>
              </a:extLst>
            </p:cNvPr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9" name="Google Shape;219;p10">
              <a:extLst>
                <a:ext uri="{FF2B5EF4-FFF2-40B4-BE49-F238E27FC236}">
                  <a16:creationId xmlns:a16="http://schemas.microsoft.com/office/drawing/2014/main" id="{354FC70D-801D-15A9-C74B-1B7F22359FAB}"/>
                </a:ext>
              </a:extLst>
            </p:cNvPr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220" name="Google Shape;220;p10">
            <a:extLst>
              <a:ext uri="{FF2B5EF4-FFF2-40B4-BE49-F238E27FC236}">
                <a16:creationId xmlns:a16="http://schemas.microsoft.com/office/drawing/2014/main" id="{697AAE39-623D-83E5-AAA2-38C41A488610}"/>
              </a:ext>
            </a:extLst>
          </p:cNvPr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r>
              <a:rPr sz="1800"/>
              <a:t>- Backend Environment: Python 3.13, FastAPI, Uvicorn.</a:t>
            </a:r>
          </a:p>
          <a:p>
            <a:r>
              <a:rPr sz="1800"/>
              <a:t>- Machine Learning Packages: scikit-learn, SentenceTransformers, faiss-cpu, umap-learn, hdbscan, pandas.</a:t>
            </a:r>
          </a:p>
          <a:p>
            <a:r>
              <a:rPr sz="1800"/>
              <a:t>- Frontend Environment: HTML5, CSS3, Vanilla JavaScript (Canvas API).</a:t>
            </a:r>
          </a:p>
          <a:p>
            <a:r>
              <a:rPr sz="1800"/>
              <a:t>- Testing Methodology: Evaluated classification accuracy using a hold-out test set to perform an Ablation Study, comparing simplistic models against advanced semantic models.</a:t>
            </a:r>
          </a:p>
        </p:txBody>
      </p:sp>
      <p:sp>
        <p:nvSpPr>
          <p:cNvPr id="221" name="Google Shape;221;p10">
            <a:extLst>
              <a:ext uri="{FF2B5EF4-FFF2-40B4-BE49-F238E27FC236}">
                <a16:creationId xmlns:a16="http://schemas.microsoft.com/office/drawing/2014/main" id="{670B7E80-71C4-5827-457A-140EC5CADF64}"/>
              </a:ext>
            </a:extLst>
          </p:cNvPr>
          <p:cNvSpPr/>
          <p:nvPr/>
        </p:nvSpPr>
        <p:spPr>
          <a:xfrm>
            <a:off x="842211" y="2430380"/>
            <a:ext cx="21175578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accent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>
            <a:extLst>
              <a:ext uri="{FF2B5EF4-FFF2-40B4-BE49-F238E27FC236}">
                <a16:creationId xmlns:a16="http://schemas.microsoft.com/office/drawing/2014/main" id="{A48602E0-CA0A-10DC-61CF-AA6348323E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09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/>
        </p:nvSpPr>
        <p:spPr>
          <a:xfrm>
            <a:off x="1615184" y="595214"/>
            <a:ext cx="16112979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 and Discussions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0" name="Google Shape;260;p13"/>
          <p:cNvGrpSpPr/>
          <p:nvPr/>
        </p:nvGrpSpPr>
        <p:grpSpPr>
          <a:xfrm>
            <a:off x="1730736" y="1565158"/>
            <a:ext cx="6581991" cy="45719"/>
            <a:chOff x="1775295" y="2028842"/>
            <a:chExt cx="3631535" cy="45719"/>
          </a:xfrm>
        </p:grpSpPr>
        <p:sp>
          <p:nvSpPr>
            <p:cNvPr id="261" name="Google Shape;261;p13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66" name="Google Shape;266;p13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267" name="Google Shape;267;p13"/>
          <p:cNvSpPr/>
          <p:nvPr/>
        </p:nvSpPr>
        <p:spPr>
          <a:xfrm>
            <a:off x="3081203" y="11059150"/>
            <a:ext cx="815829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0B05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0B05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22;p10">
            <a:extLst>
              <a:ext uri="{FF2B5EF4-FFF2-40B4-BE49-F238E27FC236}">
                <a16:creationId xmlns:a16="http://schemas.microsoft.com/office/drawing/2014/main" id="{1ED5AFF3-4DEE-A792-35A5-376E0096E143}"/>
              </a:ext>
            </a:extLst>
          </p:cNvPr>
          <p:cNvSpPr/>
          <p:nvPr/>
        </p:nvSpPr>
        <p:spPr>
          <a:xfrm>
            <a:off x="1200151" y="2430380"/>
            <a:ext cx="22383750" cy="6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Dataset &amp; Parameters (16,417 Papers, 35 Classes, 2020-2026):</a:t>
            </a:r>
          </a:p>
          <a:p>
            <a:r>
              <a:t>- Linear SVM (TF-IDF): 63.60% Test Accuracy</a:t>
            </a:r>
          </a:p>
          <a:p>
            <a:r>
              <a:t>- Logistic Regression (TF-IDF): 64.61% Test Accuracy (Lowest Brier Score: 0.501)</a:t>
            </a:r>
          </a:p>
          <a:p>
            <a:r>
              <a:t>- Voting Ensemble (LR + RF + kNN): 65.62% Test Accuracy (Best Macro-F1: 0.5133)</a:t>
            </a:r>
          </a:p>
          <a:p>
            <a:r>
              <a:t>- k-NN (k=15): 61.24% | PyTorch MLP: 62.58%</a:t>
            </a:r>
          </a:p>
          <a:p>
            <a:r>
              <a:t>- SciBERT: Pending GPU run</a:t>
            </a:r>
          </a:p>
          <a:p>
            <a:r>
              <a:t>- LightGBM / XGBoost: Pending GPU run</a:t>
            </a:r>
          </a:p>
          <a:p/>
          <a:p>
            <a:r>
              <a:t>Statistical Significance (Holm-Bonferroni Corrected, m=6):</a:t>
            </a:r>
          </a:p>
          <a:p>
            <a:r>
              <a:t>- No pairwise differences between top models are statistically significant (p &gt;= 0.05).</a:t>
            </a:r>
          </a:p>
          <a:p>
            <a:r>
              <a:t>- Linear models match deep neural nets while training 10x faster with superior calibration.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5"/>
          <p:cNvGrpSpPr/>
          <p:nvPr/>
        </p:nvGrpSpPr>
        <p:grpSpPr>
          <a:xfrm rot="10800000" flipH="1">
            <a:off x="1730736" y="1738042"/>
            <a:ext cx="3564785" cy="45719"/>
            <a:chOff x="1775295" y="2028842"/>
            <a:chExt cx="3631535" cy="45719"/>
          </a:xfrm>
        </p:grpSpPr>
        <p:sp>
          <p:nvSpPr>
            <p:cNvPr id="288" name="Google Shape;288;p15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294" name="Google Shape;294;p15"/>
          <p:cNvSpPr txBox="1"/>
          <p:nvPr/>
        </p:nvSpPr>
        <p:spPr>
          <a:xfrm>
            <a:off x="1499341" y="752990"/>
            <a:ext cx="2139954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Conclusions &amp; Future Scopes:</a:t>
            </a:r>
          </a:p>
          <a:p/>
          <a:p>
            <a:r>
              <a:t>Key Conclusions:</a:t>
            </a:r>
          </a:p>
          <a:p>
            <a:r>
              <a:t>1. Honest Date-Boundary Evaluation prevents data leakage (5-fold CV artificially inflates by 2.3–4.7%).</a:t>
            </a:r>
          </a:p>
          <a:p>
            <a:r>
              <a:t>2. Hybrid Search (BM25 + Dense FAISS + Cross-Encoder) outperforms single-mode search by combining exact keywords and semantic meaning.</a:t>
            </a:r>
          </a:p>
          <a:p>
            <a:r>
              <a:t>3. Multi-label threshold tuning on validation improves Micro-F1 by +5.35% (0.5852 -&gt; 0.6387).</a:t>
            </a:r>
          </a:p>
          <a:p>
            <a:r>
              <a:t>4. Simple, well-calibrated linear models remain highly competitive with complex transformers on arXiv classification.</a:t>
            </a:r>
          </a:p>
          <a:p/>
          <a:p>
            <a:r>
              <a:t>Future Scope:</a:t>
            </a:r>
          </a:p>
          <a:p>
            <a:r>
              <a:t>- NLI citation checking for real-time hallucination prevention.</a:t>
            </a:r>
          </a:p>
          <a:p>
            <a:r>
              <a:t>- Comparative study between BERTopic and LDA topic modeling.</a:t>
            </a:r>
          </a:p>
          <a:p>
            <a:r>
              <a:t>- Topic trend forecasting using autoregressive time-series models.</a:t>
            </a:r>
          </a:p>
        </p:txBody>
      </p:sp>
      <p:sp>
        <p:nvSpPr>
          <p:cNvPr id="295" name="Google Shape;295;p15"/>
          <p:cNvSpPr/>
          <p:nvPr/>
        </p:nvSpPr>
        <p:spPr>
          <a:xfrm>
            <a:off x="1730736" y="2379850"/>
            <a:ext cx="20936759" cy="905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Conclusions &amp; Future Scopes:</a:t>
            </a:r>
          </a:p>
          <a:p/>
          <a:p>
            <a:r>
              <a:t>Key Conclusions:</a:t>
            </a:r>
          </a:p>
          <a:p>
            <a:r>
              <a:t>1. Honest Date-Boundary Evaluation prevents data leakage (5-fold CV artificially inflates by 2.3–4.7%).</a:t>
            </a:r>
          </a:p>
          <a:p>
            <a:r>
              <a:t>2. Hybrid Search (BM25 + Dense FAISS + Cross-Encoder) outperforms single-mode search by combining exact keywords and semantic meaning.</a:t>
            </a:r>
          </a:p>
          <a:p>
            <a:r>
              <a:t>3. Multi-label threshold tuning on validation improves Micro-F1 by +5.35% (0.5852 -&gt; 0.6387).</a:t>
            </a:r>
          </a:p>
          <a:p>
            <a:r>
              <a:t>4. Simple, well-calibrated linear models remain highly competitive with complex transformers on arXiv classification.</a:t>
            </a:r>
          </a:p>
          <a:p/>
          <a:p>
            <a:r>
              <a:t>Future Scope:</a:t>
            </a:r>
          </a:p>
          <a:p>
            <a:r>
              <a:t>- NLI citation checking for real-time hallucination prevention.</a:t>
            </a:r>
          </a:p>
          <a:p>
            <a:r>
              <a:t>- Comparative study between BERTopic and LDA topic modeling.</a:t>
            </a:r>
          </a:p>
          <a:p>
            <a:r>
              <a:t>- Topic trend forecasting using autoregressive time-series models.</a:t>
            </a:r>
          </a:p>
        </p:txBody>
      </p:sp>
      <p:sp>
        <p:nvSpPr>
          <p:cNvPr id="297" name="Google Shape;297;p15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t>Conclusions &amp; Future Scopes:</a:t>
            </a:r>
          </a:p>
          <a:p/>
          <a:p>
            <a:r>
              <a:t>Key Conclusions:</a:t>
            </a:r>
          </a:p>
          <a:p>
            <a:r>
              <a:t>1. Honest Date-Boundary Evaluation prevents data leakage (5-fold CV artificially inflates by 2.3–4.7%).</a:t>
            </a:r>
          </a:p>
          <a:p>
            <a:r>
              <a:t>2. Hybrid Search (BM25 + Dense FAISS + Cross-Encoder) outperforms single-mode search by combining exact keywords and semantic meaning.</a:t>
            </a:r>
          </a:p>
          <a:p>
            <a:r>
              <a:t>3. Multi-label threshold tuning on validation improves Micro-F1 by +5.35% (0.5852 -&gt; 0.6387).</a:t>
            </a:r>
          </a:p>
          <a:p>
            <a:r>
              <a:t>4. Simple, well-calibrated linear models remain highly competitive with complex transformers on arXiv classification.</a:t>
            </a:r>
          </a:p>
          <a:p/>
          <a:p>
            <a:r>
              <a:t>Future Scope:</a:t>
            </a:r>
          </a:p>
          <a:p>
            <a:r>
              <a:t>- NLI citation checking for real-time hallucination prevention.</a:t>
            </a:r>
          </a:p>
          <a:p>
            <a:r>
              <a:t>- Comparative study between BERTopic and LDA topic modeling.</a:t>
            </a:r>
          </a:p>
          <a:p>
            <a:r>
              <a:t>- Topic trend forecasting using autoregressive time-series models.</a:t>
            </a: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6"/>
          <p:cNvGrpSpPr/>
          <p:nvPr/>
        </p:nvGrpSpPr>
        <p:grpSpPr>
          <a:xfrm>
            <a:off x="1730735" y="1783761"/>
            <a:ext cx="3971795" cy="45719"/>
            <a:chOff x="1775295" y="2028842"/>
            <a:chExt cx="3631535" cy="45719"/>
          </a:xfrm>
        </p:grpSpPr>
        <p:sp>
          <p:nvSpPr>
            <p:cNvPr id="303" name="Google Shape;303;p16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5" name="Google Shape;305;p16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6" name="Google Shape;306;p16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8" name="Google Shape;308;p16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309" name="Google Shape;309;p16"/>
          <p:cNvSpPr txBox="1"/>
          <p:nvPr/>
        </p:nvSpPr>
        <p:spPr>
          <a:xfrm>
            <a:off x="1615184" y="595215"/>
            <a:ext cx="2139954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1355487" y="2002363"/>
            <a:ext cx="21659245" cy="569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6D831D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1581751" y="2819398"/>
            <a:ext cx="21206716" cy="1006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200"/>
              <a:t>[1] N. Reimers and I. Gurevych, "Sentence-BERT: Sentence Embeddings using Siamese BERT-Networks," arXiv, vol. arXiv:1908.10084, Aug. 2019.</a:t>
            </a:r>
          </a:p>
          <a:p/>
          <a:p>
            <a:r>
              <a:rPr sz="1200"/>
              <a:t>[2] J. Johnson, M. Douze, and H. Jégou, "Billion-scale similarity search with GPUs," IEEE Transactions on Big Data, vol. 7, no. 3, pp. 535-547, 2021.</a:t>
            </a:r>
          </a:p>
          <a:p/>
          <a:p>
            <a:r>
              <a:rPr sz="1200"/>
              <a:t>[3] L. McInnes, J. Healy, and J. Melville, "UMAP: Uniform Manifold Approximation and Projection for Dimension Reduction," arXiv, vol. arXiv:1802.03426, 2018.</a:t>
            </a:r>
          </a:p>
          <a:p/>
          <a:p>
            <a:r>
              <a:rPr sz="1200"/>
              <a:t>[4] V. Karpukhin et al., "Dense Passage Retrieval for Open-Domain Question Answering," arXiv, vol. arXiv:2004.04906, 2020.</a:t>
            </a:r>
          </a:p>
        </p:txBody>
      </p: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/>
        </p:nvSpPr>
        <p:spPr>
          <a:xfrm>
            <a:off x="9539984" y="6475146"/>
            <a:ext cx="535711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2290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8000" b="1">
              <a:solidFill>
                <a:srgbClr val="2290F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Graphic 2" descr="A flower bouquet">
            <a:extLst>
              <a:ext uri="{FF2B5EF4-FFF2-40B4-BE49-F238E27FC236}">
                <a16:creationId xmlns:a16="http://schemas.microsoft.com/office/drawing/2014/main" id="{6EA3D62E-7A48-E0A5-0F8D-78F080049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0569" y="3337433"/>
            <a:ext cx="3520567" cy="35205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Entrepreneur - Coloured - Light">
      <a:dk1>
        <a:srgbClr val="7E7E7E"/>
      </a:dk1>
      <a:lt1>
        <a:srgbClr val="FFFFFF"/>
      </a:lt1>
      <a:dk2>
        <a:srgbClr val="041B31"/>
      </a:dk2>
      <a:lt2>
        <a:srgbClr val="FFFFFF"/>
      </a:lt2>
      <a:accent1>
        <a:srgbClr val="C42A13"/>
      </a:accent1>
      <a:accent2>
        <a:srgbClr val="F9711C"/>
      </a:accent2>
      <a:accent3>
        <a:srgbClr val="92AF27"/>
      </a:accent3>
      <a:accent4>
        <a:srgbClr val="38B28A"/>
      </a:accent4>
      <a:accent5>
        <a:srgbClr val="16749F"/>
      </a:accent5>
      <a:accent6>
        <a:srgbClr val="041B31"/>
      </a:accent6>
      <a:hlink>
        <a:srgbClr val="F33B48"/>
      </a:hlink>
      <a:folHlink>
        <a:srgbClr val="FFC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5441</TotalTime>
  <Words>759</Words>
  <Application>Microsoft Office PowerPoint</Application>
  <PresentationFormat>Custom</PresentationFormat>
  <Paragraphs>203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Raleway</vt:lpstr>
      <vt:lpstr>Calibri</vt:lpstr>
      <vt:lpstr>Courier New</vt:lpstr>
      <vt:lpstr>Lato Light</vt:lpstr>
      <vt:lpstr>Lato</vt:lpstr>
      <vt:lpstr>Times New Roman</vt:lpstr>
      <vt:lpstr>Arial</vt:lpstr>
      <vt:lpstr>Wingdings</vt:lpstr>
      <vt:lpstr>Raleway Light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Lopez</dc:creator>
  <cp:lastModifiedBy>DPU SST</cp:lastModifiedBy>
  <cp:revision>26</cp:revision>
  <dcterms:created xsi:type="dcterms:W3CDTF">2014-11-12T21:47:38Z</dcterms:created>
  <dcterms:modified xsi:type="dcterms:W3CDTF">2026-09-28T11:01:42Z</dcterms:modified>
</cp:coreProperties>
</file>